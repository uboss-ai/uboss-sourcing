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336000" cy="15087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7" d="100"/>
          <a:sy n="27" d="100"/>
        </p:scale>
        <p:origin x="14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41A4-67AE-66C1-351C-DE0853063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469199"/>
            <a:ext cx="16002000" cy="52527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1146A-0F49-3D44-EB7A-CF56F3A01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7924484"/>
            <a:ext cx="16002000" cy="364267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05C42-D4A4-1531-580E-688C9A98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E1530-8CBB-D66A-88E1-4051E3925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89F4-9D9E-A98E-611B-A0818275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21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045C-0DE5-5164-DDB3-B3BFBCBA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83C95-E147-1D49-99B5-50095E937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C71D0-DD97-FC29-66ED-775D1B15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D091F-E155-1A05-25E0-BC2A446C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DF723-1F11-D869-548A-BEF17ADB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99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037B-70E3-00DC-E4DA-10E1EC88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738" y="3761427"/>
            <a:ext cx="18402300" cy="627602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395D2-5124-03C1-4922-197032623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5738" y="10096822"/>
            <a:ext cx="18402300" cy="3300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89569-AFCA-8C24-E3B8-26CDE9E4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D5D1F-F7B2-FC2C-3301-AA1BF6A0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681F7-149D-BE8E-A5F1-EA2B09DE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7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F066D-41F6-55A1-C2FC-6BE2AD479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DF2E5-262D-04C8-6AA4-E10BE1908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66850" y="4016375"/>
            <a:ext cx="9067800" cy="95729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B78F1-6441-C49D-50B8-74A251468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01350" y="4016375"/>
            <a:ext cx="9067800" cy="95729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2A0C8-9830-69EA-9ECA-D175E0C60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75CDF-2FDD-1D3D-34FF-AA4CE389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97E89-6A77-B653-4E32-9356F5FC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77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78FC-3FA5-B6A7-A668-9FA681D9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629" y="803278"/>
            <a:ext cx="18402300" cy="2916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3C942-40D9-094D-CC22-6A2E7614D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9631" y="3698559"/>
            <a:ext cx="9026127" cy="181260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2C428-4E05-1A13-9943-4CD67657C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69631" y="5511165"/>
            <a:ext cx="9026127" cy="8106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51BCD7-35EE-1C9E-EB0F-2DB24A41B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01351" y="3698559"/>
            <a:ext cx="9070579" cy="181260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076FD-A794-9DB3-7DC1-87768142E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801351" y="5511165"/>
            <a:ext cx="9070579" cy="8106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B1CBC-6BAE-7B13-98ED-41ED62EA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42524-755F-3F74-E7C1-949A2E97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7BBDE-8629-A337-1398-448C893F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28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ABD1-C63D-F563-53D3-EAE1E772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236D4-B705-B2A4-6BE7-1985EE74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8E9FD-7034-D51D-BDE5-C17CD487B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1FCA7-2B9B-53C3-F2E1-3A31CA0F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16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0D89D-3023-03C5-7651-862C8A754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57CF6-C947-F4C9-55F9-3812FC27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07943-76C2-C768-D20E-626553A5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58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D4914-CF19-55FD-0453-CD1878811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631" y="1005840"/>
            <a:ext cx="6881415" cy="35204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A227-9C1F-9C18-9A11-915D4404F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0579" y="2172338"/>
            <a:ext cx="10801350" cy="107219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59F32-E648-7ED9-A126-E501BF53B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69631" y="4526280"/>
            <a:ext cx="6881415" cy="83854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2C007-9F77-0752-2F6E-5111C6CC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ABA76-D56E-E21D-C6CA-A0DE552D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80C17-44B8-B64D-3233-BAD67D69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2B69-4AFD-BE07-2940-183C3DECB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631" y="1005840"/>
            <a:ext cx="6881415" cy="35204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B76CB-5AB9-F838-625D-AFCB4D581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70579" y="2172338"/>
            <a:ext cx="10801350" cy="107219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45485-FA7E-FA5E-8A93-AC51461FB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69631" y="4526280"/>
            <a:ext cx="6881415" cy="83854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F0910-1F68-B9B6-0E67-C6F18285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E8271-8526-D706-33E1-E2099872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2CFA8-E5A0-64FA-54A5-3152B630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669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48FED-16D6-7DE9-07C8-77109232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76667-E95F-E37F-1C7B-CC02C3127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771AE-1FBA-9816-096D-E04E2E4B3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342AB-9BE2-92C9-3A5A-98FC73DAE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3F4E9-E860-E3D1-8B9C-01D87F610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948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E138DF-6590-9D02-8D0A-916E95843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268576" y="803275"/>
            <a:ext cx="4600575" cy="127860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C8E44-10DE-2468-9D8F-6ED846DCC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66851" y="803275"/>
            <a:ext cx="13535025" cy="127860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3FB88-B722-F50C-9A67-0AB8EB92D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2F53D-D125-0367-62D7-948EC7C9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8556A-A0B8-B1A0-1264-D4508D9E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66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C6A262-D603-09A3-993B-EF029A4D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50" y="803278"/>
            <a:ext cx="18402300" cy="2916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58E2E-A48E-0153-8E3C-BB4735714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6850" y="4016375"/>
            <a:ext cx="18402300" cy="9572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7C280-085B-F385-2379-38B38865C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6850" y="13983973"/>
            <a:ext cx="4800600" cy="803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0F238-866B-4D6B-9E2F-04270650E89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29D30-3497-B5C6-1F87-DFB2E259F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67550" y="13983973"/>
            <a:ext cx="7200900" cy="803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3ABDD-477A-23A7-1F84-61E0127CF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068550" y="13983973"/>
            <a:ext cx="4800600" cy="803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E00C0-31E0-45F5-A83C-D7106A9F5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78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1880B-86C0-10FC-F8E9-25EFE01E7CF0}"/>
              </a:ext>
            </a:extLst>
          </p:cNvPr>
          <p:cNvSpPr txBox="1"/>
          <p:nvPr/>
        </p:nvSpPr>
        <p:spPr>
          <a:xfrm>
            <a:off x="533400" y="355600"/>
            <a:ext cx="5334000" cy="541174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2600" b="1">
                <a:solidFill>
                  <a:srgbClr val="102A43"/>
                </a:solidFill>
                <a:latin typeface="Aptos" panose="020B0004020202020204" pitchFamily="34" charset="0"/>
              </a:rPr>
              <a:t>UBOSS SOURCING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3A02F-9C2D-3FC7-0865-02E5286859A2}"/>
              </a:ext>
            </a:extLst>
          </p:cNvPr>
          <p:cNvSpPr txBox="1"/>
          <p:nvPr/>
        </p:nvSpPr>
        <p:spPr>
          <a:xfrm>
            <a:off x="533400" y="863600"/>
            <a:ext cx="9144000" cy="387286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600">
                <a:solidFill>
                  <a:srgbClr val="475569"/>
                </a:solidFill>
                <a:latin typeface="Aptos" panose="020B0004020202020204" pitchFamily="34" charset="0"/>
              </a:rPr>
              <a:t>Detailed Screen Map and Navigation Flow</a:t>
            </a:r>
            <a:endParaRPr lang="en-IN" sz="16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6F58A-12BE-413F-7368-0917FFF16759}"/>
              </a:ext>
            </a:extLst>
          </p:cNvPr>
          <p:cNvSpPr txBox="1"/>
          <p:nvPr/>
        </p:nvSpPr>
        <p:spPr>
          <a:xfrm>
            <a:off x="533400" y="1219200"/>
            <a:ext cx="10160000" cy="3103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Aptos" panose="020B0004020202020204" pitchFamily="34" charset="0"/>
              </a:rPr>
              <a:t>B2B sourcing, ordering, fulfilment and internal operations</a:t>
            </a:r>
            <a:endParaRPr lang="en-IN" sz="11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87D077-0C9A-95D3-230F-0D6B91DCCC83}"/>
              </a:ext>
            </a:extLst>
          </p:cNvPr>
          <p:cNvSpPr/>
          <p:nvPr/>
        </p:nvSpPr>
        <p:spPr>
          <a:xfrm>
            <a:off x="16002000" y="393700"/>
            <a:ext cx="4699000" cy="9652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US" sz="1000">
                <a:solidFill>
                  <a:srgbClr val="1D4ED8"/>
                </a:solidFill>
                <a:latin typeface="Aptos" panose="020B0004020202020204" pitchFamily="34" charset="0"/>
              </a:rPr>
              <a:t>SCREEN-ID NOTE
IDs are development references. Routes and permissions remain the source of truth.</a:t>
            </a:r>
            <a:endParaRPr lang="en-IN" sz="1000">
              <a:solidFill>
                <a:srgbClr val="1D4ED8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372D41-45D7-8A3E-1BD0-A4F4A7E2F4C8}"/>
              </a:ext>
            </a:extLst>
          </p:cNvPr>
          <p:cNvSpPr/>
          <p:nvPr/>
        </p:nvSpPr>
        <p:spPr>
          <a:xfrm>
            <a:off x="533400" y="1841500"/>
            <a:ext cx="368300" cy="304800"/>
          </a:xfrm>
          <a:prstGeom prst="round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C0983-42F1-32AB-F7DF-2508E38D0383}"/>
              </a:ext>
            </a:extLst>
          </p:cNvPr>
          <p:cNvSpPr txBox="1"/>
          <p:nvPr/>
        </p:nvSpPr>
        <p:spPr>
          <a:xfrm>
            <a:off x="977900" y="1816100"/>
            <a:ext cx="6159500" cy="371897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500" b="1">
                <a:solidFill>
                  <a:srgbClr val="102A43"/>
                </a:solidFill>
                <a:latin typeface="Aptos" panose="020B0004020202020204" pitchFamily="34" charset="0"/>
              </a:rPr>
              <a:t>ENTRY, ACCESS AND ROLE RESOLUTION</a:t>
            </a:r>
            <a:endParaRPr lang="en-IN" sz="15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24716B-3395-C112-AFB7-796966D8E525}"/>
              </a:ext>
            </a:extLst>
          </p:cNvPr>
          <p:cNvCxnSpPr/>
          <p:nvPr/>
        </p:nvCxnSpPr>
        <p:spPr>
          <a:xfrm>
            <a:off x="533400" y="2222500"/>
            <a:ext cx="66040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60B6CF-E753-9814-4801-2E65859C68FE}"/>
              </a:ext>
            </a:extLst>
          </p:cNvPr>
          <p:cNvSpPr/>
          <p:nvPr/>
        </p:nvSpPr>
        <p:spPr>
          <a:xfrm>
            <a:off x="533400" y="2413000"/>
            <a:ext cx="18415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690E4C-2B63-13D3-0D6F-98DCB9D1CEA8}"/>
              </a:ext>
            </a:extLst>
          </p:cNvPr>
          <p:cNvSpPr/>
          <p:nvPr/>
        </p:nvSpPr>
        <p:spPr>
          <a:xfrm>
            <a:off x="533400" y="2413000"/>
            <a:ext cx="76200" cy="990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0138A8-1697-F706-FC6C-B0F0B1893686}"/>
              </a:ext>
            </a:extLst>
          </p:cNvPr>
          <p:cNvSpPr/>
          <p:nvPr/>
        </p:nvSpPr>
        <p:spPr>
          <a:xfrm>
            <a:off x="685800" y="2540000"/>
            <a:ext cx="15367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AU-01  Login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9D1CB-01FD-1F78-98B3-B59AE00310FB}"/>
              </a:ext>
            </a:extLst>
          </p:cNvPr>
          <p:cNvSpPr txBox="1"/>
          <p:nvPr/>
        </p:nvSpPr>
        <p:spPr>
          <a:xfrm>
            <a:off x="685800" y="2946400"/>
            <a:ext cx="15367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Customer or staff sign in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D26781-B4A1-AB1B-4F39-8650E38210B6}"/>
              </a:ext>
            </a:extLst>
          </p:cNvPr>
          <p:cNvSpPr/>
          <p:nvPr/>
        </p:nvSpPr>
        <p:spPr>
          <a:xfrm>
            <a:off x="2679700" y="2413000"/>
            <a:ext cx="19685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85EA51-68E3-A691-344B-365DBE85313E}"/>
              </a:ext>
            </a:extLst>
          </p:cNvPr>
          <p:cNvSpPr/>
          <p:nvPr/>
        </p:nvSpPr>
        <p:spPr>
          <a:xfrm>
            <a:off x="2679700" y="2413000"/>
            <a:ext cx="76200" cy="990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6543DD-94E6-D729-2B0B-C35C06EA16D3}"/>
              </a:ext>
            </a:extLst>
          </p:cNvPr>
          <p:cNvSpPr/>
          <p:nvPr/>
        </p:nvSpPr>
        <p:spPr>
          <a:xfrm>
            <a:off x="2832100" y="2540000"/>
            <a:ext cx="16637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AU-02  Password help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52382D-B2A5-8DAD-6E91-CEF1B3B13D0C}"/>
              </a:ext>
            </a:extLst>
          </p:cNvPr>
          <p:cNvSpPr txBox="1"/>
          <p:nvPr/>
        </p:nvSpPr>
        <p:spPr>
          <a:xfrm>
            <a:off x="2832100" y="2946400"/>
            <a:ext cx="16637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1000">
                <a:solidFill>
                  <a:srgbClr val="475569"/>
                </a:solidFill>
                <a:latin typeface="Aptos" panose="020B0004020202020204" pitchFamily="34" charset="0"/>
              </a:rPr>
              <a:t>Forgot password &gt; reset password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33E629-CE39-A932-69CB-BFC34D38E3B3}"/>
              </a:ext>
            </a:extLst>
          </p:cNvPr>
          <p:cNvSpPr/>
          <p:nvPr/>
        </p:nvSpPr>
        <p:spPr>
          <a:xfrm>
            <a:off x="4953000" y="2413000"/>
            <a:ext cx="21844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152407-4A20-F620-F85E-2BBD91F555C2}"/>
              </a:ext>
            </a:extLst>
          </p:cNvPr>
          <p:cNvSpPr/>
          <p:nvPr/>
        </p:nvSpPr>
        <p:spPr>
          <a:xfrm>
            <a:off x="4953000" y="2413000"/>
            <a:ext cx="76200" cy="990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1F79BF4-EA26-5344-9CB6-4F4CBABD780C}"/>
              </a:ext>
            </a:extLst>
          </p:cNvPr>
          <p:cNvSpPr/>
          <p:nvPr/>
        </p:nvSpPr>
        <p:spPr>
          <a:xfrm>
            <a:off x="5105400" y="2540000"/>
            <a:ext cx="18796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AU-03  Activation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B5E3E9-CB48-A1C9-79FB-45E951A859DB}"/>
              </a:ext>
            </a:extLst>
          </p:cNvPr>
          <p:cNvSpPr txBox="1"/>
          <p:nvPr/>
        </p:nvSpPr>
        <p:spPr>
          <a:xfrm>
            <a:off x="5105400" y="2946400"/>
            <a:ext cx="18796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1000">
                <a:solidFill>
                  <a:srgbClr val="475569"/>
                </a:solidFill>
                <a:latin typeface="Aptos" panose="020B0004020202020204" pitchFamily="34" charset="0"/>
              </a:rPr>
              <a:t>Invitation acceptance &gt; create password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7DAC4C-4B4A-1D0A-DFE1-7DD2633423A0}"/>
              </a:ext>
            </a:extLst>
          </p:cNvPr>
          <p:cNvCxnSpPr/>
          <p:nvPr/>
        </p:nvCxnSpPr>
        <p:spPr>
          <a:xfrm>
            <a:off x="2374900" y="2908300"/>
            <a:ext cx="304800" cy="0"/>
          </a:xfrm>
          <a:prstGeom prst="line">
            <a:avLst/>
          </a:prstGeom>
          <a:ln w="19050">
            <a:solidFill>
              <a:srgbClr val="1D4ED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5C7286-5164-5F9E-6B35-63FD588E7E27}"/>
              </a:ext>
            </a:extLst>
          </p:cNvPr>
          <p:cNvCxnSpPr/>
          <p:nvPr/>
        </p:nvCxnSpPr>
        <p:spPr>
          <a:xfrm>
            <a:off x="4648200" y="2908300"/>
            <a:ext cx="304800" cy="0"/>
          </a:xfrm>
          <a:prstGeom prst="line">
            <a:avLst/>
          </a:prstGeom>
          <a:ln w="19050">
            <a:solidFill>
              <a:srgbClr val="1D4ED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26E496-D51E-C1F3-D099-37AEF5F5FA82}"/>
              </a:ext>
            </a:extLst>
          </p:cNvPr>
          <p:cNvSpPr/>
          <p:nvPr/>
        </p:nvSpPr>
        <p:spPr>
          <a:xfrm>
            <a:off x="533400" y="3632200"/>
            <a:ext cx="6604000" cy="850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E1FFA4-2555-E4AE-679C-70D1148C1EC0}"/>
              </a:ext>
            </a:extLst>
          </p:cNvPr>
          <p:cNvSpPr/>
          <p:nvPr/>
        </p:nvSpPr>
        <p:spPr>
          <a:xfrm>
            <a:off x="533400" y="3632200"/>
            <a:ext cx="76200" cy="8509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CEBE24F-8332-2B33-683B-F0B6DD6544CB}"/>
              </a:ext>
            </a:extLst>
          </p:cNvPr>
          <p:cNvSpPr/>
          <p:nvPr/>
        </p:nvSpPr>
        <p:spPr>
          <a:xfrm>
            <a:off x="685800" y="3759200"/>
            <a:ext cx="62992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AU-04  Session check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D62489-12EE-EBAD-608F-C237E425203A}"/>
              </a:ext>
            </a:extLst>
          </p:cNvPr>
          <p:cNvSpPr txBox="1"/>
          <p:nvPr/>
        </p:nvSpPr>
        <p:spPr>
          <a:xfrm>
            <a:off x="685800" y="4165600"/>
            <a:ext cx="62992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Separate customer/admin session, secure cookie, role and permission checks on every protected route.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CB3E1E2-FBB1-1E08-6EF8-467AFFA5929D}"/>
              </a:ext>
            </a:extLst>
          </p:cNvPr>
          <p:cNvSpPr/>
          <p:nvPr/>
        </p:nvSpPr>
        <p:spPr>
          <a:xfrm>
            <a:off x="7518400" y="1841500"/>
            <a:ext cx="368300" cy="3048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03BE89-3B98-2BCB-DCE8-DEB734E5B098}"/>
              </a:ext>
            </a:extLst>
          </p:cNvPr>
          <p:cNvSpPr txBox="1"/>
          <p:nvPr/>
        </p:nvSpPr>
        <p:spPr>
          <a:xfrm>
            <a:off x="7962900" y="1816100"/>
            <a:ext cx="12839700" cy="371897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500" b="1">
                <a:solidFill>
                  <a:srgbClr val="102A43"/>
                </a:solidFill>
                <a:latin typeface="Aptos" panose="020B0004020202020204" pitchFamily="34" charset="0"/>
              </a:rPr>
              <a:t>CUSTOMER CATALOGUE AND PURCHASE FLOW</a:t>
            </a:r>
            <a:endParaRPr lang="en-IN" sz="15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67C77D4-0060-38A5-F22F-4F7A566C1D1A}"/>
              </a:ext>
            </a:extLst>
          </p:cNvPr>
          <p:cNvCxnSpPr/>
          <p:nvPr/>
        </p:nvCxnSpPr>
        <p:spPr>
          <a:xfrm>
            <a:off x="7518400" y="2222500"/>
            <a:ext cx="132842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493EA69-CF56-BAAA-79AB-688151D04FDF}"/>
              </a:ext>
            </a:extLst>
          </p:cNvPr>
          <p:cNvSpPr/>
          <p:nvPr/>
        </p:nvSpPr>
        <p:spPr>
          <a:xfrm>
            <a:off x="7518400" y="2413000"/>
            <a:ext cx="19050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142D49-5FDB-6AFC-D241-31DFB3F7ED38}"/>
              </a:ext>
            </a:extLst>
          </p:cNvPr>
          <p:cNvSpPr/>
          <p:nvPr/>
        </p:nvSpPr>
        <p:spPr>
          <a:xfrm>
            <a:off x="7518400" y="2413000"/>
            <a:ext cx="76200" cy="990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EAC792C-847E-D9D3-F1CF-7BC5F8860F77}"/>
              </a:ext>
            </a:extLst>
          </p:cNvPr>
          <p:cNvSpPr/>
          <p:nvPr/>
        </p:nvSpPr>
        <p:spPr>
          <a:xfrm>
            <a:off x="7670800" y="2540000"/>
            <a:ext cx="16002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CS-01  Store home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DB49C-2B9F-7EF9-82BE-15585085D30B}"/>
              </a:ext>
            </a:extLst>
          </p:cNvPr>
          <p:cNvSpPr txBox="1"/>
          <p:nvPr/>
        </p:nvSpPr>
        <p:spPr>
          <a:xfrm>
            <a:off x="7670800" y="2946400"/>
            <a:ext cx="1600200" cy="602729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Brand, search, categories and latest products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C7E8C44-DC60-3C34-1EB2-09EE9849AE7B}"/>
              </a:ext>
            </a:extLst>
          </p:cNvPr>
          <p:cNvSpPr/>
          <p:nvPr/>
        </p:nvSpPr>
        <p:spPr>
          <a:xfrm>
            <a:off x="9690100" y="2413000"/>
            <a:ext cx="19685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4E1E45-42DB-BF2D-CC20-BE10FE51F9C7}"/>
              </a:ext>
            </a:extLst>
          </p:cNvPr>
          <p:cNvSpPr/>
          <p:nvPr/>
        </p:nvSpPr>
        <p:spPr>
          <a:xfrm>
            <a:off x="9690100" y="2413000"/>
            <a:ext cx="76200" cy="990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5035D4D-9877-C7D2-1DA5-5CBED4FBE5DA}"/>
              </a:ext>
            </a:extLst>
          </p:cNvPr>
          <p:cNvSpPr/>
          <p:nvPr/>
        </p:nvSpPr>
        <p:spPr>
          <a:xfrm>
            <a:off x="9842500" y="2540000"/>
            <a:ext cx="16637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CS-02  Catalogue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D597BE-0957-797E-948E-FA21E0544CB1}"/>
              </a:ext>
            </a:extLst>
          </p:cNvPr>
          <p:cNvSpPr txBox="1"/>
          <p:nvPr/>
        </p:nvSpPr>
        <p:spPr>
          <a:xfrm>
            <a:off x="9842500" y="2946400"/>
            <a:ext cx="16637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Search, category, sort, price and recurring filters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C4C4729-B2A1-7209-625F-B68F5A86E62D}"/>
              </a:ext>
            </a:extLst>
          </p:cNvPr>
          <p:cNvSpPr/>
          <p:nvPr/>
        </p:nvSpPr>
        <p:spPr>
          <a:xfrm>
            <a:off x="11925300" y="2413000"/>
            <a:ext cx="21590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F1F7D2-B0DC-AA88-7B3F-F76E976A1234}"/>
              </a:ext>
            </a:extLst>
          </p:cNvPr>
          <p:cNvSpPr/>
          <p:nvPr/>
        </p:nvSpPr>
        <p:spPr>
          <a:xfrm>
            <a:off x="11925300" y="2413000"/>
            <a:ext cx="76200" cy="990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03C83CA-C56A-0F85-1C02-D3E2F0D40489}"/>
              </a:ext>
            </a:extLst>
          </p:cNvPr>
          <p:cNvSpPr/>
          <p:nvPr/>
        </p:nvSpPr>
        <p:spPr>
          <a:xfrm>
            <a:off x="12077700" y="2540000"/>
            <a:ext cx="18542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CS-03  Product detail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A690AB-177F-AD74-D233-51CF46C067F0}"/>
              </a:ext>
            </a:extLst>
          </p:cNvPr>
          <p:cNvSpPr txBox="1"/>
          <p:nvPr/>
        </p:nvSpPr>
        <p:spPr>
          <a:xfrm>
            <a:off x="12077700" y="2946400"/>
            <a:ext cx="1854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Media, specs, variants, tax, MOQ and quantity rules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D7F4F47-A937-4EA3-B4BF-18861246D4F9}"/>
              </a:ext>
            </a:extLst>
          </p:cNvPr>
          <p:cNvSpPr/>
          <p:nvPr/>
        </p:nvSpPr>
        <p:spPr>
          <a:xfrm>
            <a:off x="14351000" y="2413000"/>
            <a:ext cx="19050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7D23A1-2081-2D88-CFE9-B57E3010C0FB}"/>
              </a:ext>
            </a:extLst>
          </p:cNvPr>
          <p:cNvSpPr/>
          <p:nvPr/>
        </p:nvSpPr>
        <p:spPr>
          <a:xfrm>
            <a:off x="14351000" y="2413000"/>
            <a:ext cx="76200" cy="9906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7087F6D-C09A-D04E-FBE9-72B8B7C25796}"/>
              </a:ext>
            </a:extLst>
          </p:cNvPr>
          <p:cNvSpPr/>
          <p:nvPr/>
        </p:nvSpPr>
        <p:spPr>
          <a:xfrm>
            <a:off x="14503400" y="2540000"/>
            <a:ext cx="1600200" cy="317500"/>
          </a:xfrm>
          <a:prstGeom prst="round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CS-04  Cart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FFD980-3CFC-7E5F-1DA7-19990FCD3249}"/>
              </a:ext>
            </a:extLst>
          </p:cNvPr>
          <p:cNvSpPr txBox="1"/>
          <p:nvPr/>
        </p:nvSpPr>
        <p:spPr>
          <a:xfrm>
            <a:off x="14503400" y="2946400"/>
            <a:ext cx="1600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Lines, coupons, totals and checkout readiness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7DCE28C-A1D7-A7EC-B7F4-068B8CA411E5}"/>
              </a:ext>
            </a:extLst>
          </p:cNvPr>
          <p:cNvSpPr/>
          <p:nvPr/>
        </p:nvSpPr>
        <p:spPr>
          <a:xfrm>
            <a:off x="16522700" y="2413000"/>
            <a:ext cx="19050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5BDF954-CE5E-8B40-13B2-44CAB8CFA945}"/>
              </a:ext>
            </a:extLst>
          </p:cNvPr>
          <p:cNvSpPr/>
          <p:nvPr/>
        </p:nvSpPr>
        <p:spPr>
          <a:xfrm>
            <a:off x="16522700" y="2413000"/>
            <a:ext cx="76200" cy="9906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5017224-2188-E4E8-1C69-548E3A418559}"/>
              </a:ext>
            </a:extLst>
          </p:cNvPr>
          <p:cNvSpPr/>
          <p:nvPr/>
        </p:nvSpPr>
        <p:spPr>
          <a:xfrm>
            <a:off x="16675100" y="2540000"/>
            <a:ext cx="1600200" cy="317500"/>
          </a:xfrm>
          <a:prstGeom prst="round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CS-05  Checkout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49D271-29E6-9297-A6A0-C17E2D9FE8EE}"/>
              </a:ext>
            </a:extLst>
          </p:cNvPr>
          <p:cNvSpPr txBox="1"/>
          <p:nvPr/>
        </p:nvSpPr>
        <p:spPr>
          <a:xfrm>
            <a:off x="16675100" y="2946400"/>
            <a:ext cx="1600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Addresses, payment mode and server totals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3AB7B72-BE47-E0BD-F626-FA102E963401}"/>
              </a:ext>
            </a:extLst>
          </p:cNvPr>
          <p:cNvSpPr/>
          <p:nvPr/>
        </p:nvSpPr>
        <p:spPr>
          <a:xfrm>
            <a:off x="18694400" y="2413000"/>
            <a:ext cx="2108200" cy="99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AFDBEFA-5872-1C2C-9D71-902D8AAFB286}"/>
              </a:ext>
            </a:extLst>
          </p:cNvPr>
          <p:cNvSpPr/>
          <p:nvPr/>
        </p:nvSpPr>
        <p:spPr>
          <a:xfrm>
            <a:off x="18694400" y="2413000"/>
            <a:ext cx="76200" cy="9906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3889403-AF33-1EFF-C4FA-9AB1A9B0033B}"/>
              </a:ext>
            </a:extLst>
          </p:cNvPr>
          <p:cNvSpPr/>
          <p:nvPr/>
        </p:nvSpPr>
        <p:spPr>
          <a:xfrm>
            <a:off x="18846800" y="2540000"/>
            <a:ext cx="1803400" cy="317500"/>
          </a:xfrm>
          <a:prstGeom prst="round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CS-06  Payment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784A31-4082-F686-6AF4-CD069192950D}"/>
              </a:ext>
            </a:extLst>
          </p:cNvPr>
          <p:cNvSpPr txBox="1"/>
          <p:nvPr/>
        </p:nvSpPr>
        <p:spPr>
          <a:xfrm>
            <a:off x="18846800" y="2946400"/>
            <a:ext cx="18034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Online provider or payment link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73C340A-F9F6-88FE-0DA8-B3570D2BA103}"/>
              </a:ext>
            </a:extLst>
          </p:cNvPr>
          <p:cNvCxnSpPr/>
          <p:nvPr/>
        </p:nvCxnSpPr>
        <p:spPr>
          <a:xfrm>
            <a:off x="9423400" y="2908300"/>
            <a:ext cx="266700" cy="0"/>
          </a:xfrm>
          <a:prstGeom prst="line">
            <a:avLst/>
          </a:prstGeom>
          <a:ln w="19050">
            <a:solidFill>
              <a:srgbClr val="1D4ED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6557AAC-333B-3D89-01E5-0683D4B54086}"/>
              </a:ext>
            </a:extLst>
          </p:cNvPr>
          <p:cNvCxnSpPr/>
          <p:nvPr/>
        </p:nvCxnSpPr>
        <p:spPr>
          <a:xfrm>
            <a:off x="11658600" y="2908300"/>
            <a:ext cx="266700" cy="0"/>
          </a:xfrm>
          <a:prstGeom prst="line">
            <a:avLst/>
          </a:prstGeom>
          <a:ln w="19050">
            <a:solidFill>
              <a:srgbClr val="1D4ED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026B000-25FE-F6F9-F88F-13B8D2F56900}"/>
              </a:ext>
            </a:extLst>
          </p:cNvPr>
          <p:cNvCxnSpPr/>
          <p:nvPr/>
        </p:nvCxnSpPr>
        <p:spPr>
          <a:xfrm>
            <a:off x="14084300" y="2908300"/>
            <a:ext cx="266700" cy="0"/>
          </a:xfrm>
          <a:prstGeom prst="line">
            <a:avLst/>
          </a:prstGeom>
          <a:ln w="19050">
            <a:solidFill>
              <a:srgbClr val="EA580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481A370-9F39-8056-720B-80CD032C87D0}"/>
              </a:ext>
            </a:extLst>
          </p:cNvPr>
          <p:cNvCxnSpPr/>
          <p:nvPr/>
        </p:nvCxnSpPr>
        <p:spPr>
          <a:xfrm>
            <a:off x="16256000" y="2908300"/>
            <a:ext cx="266700" cy="0"/>
          </a:xfrm>
          <a:prstGeom prst="line">
            <a:avLst/>
          </a:prstGeom>
          <a:ln w="19050">
            <a:solidFill>
              <a:srgbClr val="EA580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DBC2F60-D664-688A-A3AA-E84DCC274DBA}"/>
              </a:ext>
            </a:extLst>
          </p:cNvPr>
          <p:cNvCxnSpPr/>
          <p:nvPr/>
        </p:nvCxnSpPr>
        <p:spPr>
          <a:xfrm>
            <a:off x="18427700" y="2908300"/>
            <a:ext cx="266700" cy="0"/>
          </a:xfrm>
          <a:prstGeom prst="line">
            <a:avLst/>
          </a:prstGeom>
          <a:ln w="19050">
            <a:solidFill>
              <a:srgbClr val="EA580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BDF522E-57FA-47C5-A80E-151C9F761C76}"/>
              </a:ext>
            </a:extLst>
          </p:cNvPr>
          <p:cNvSpPr/>
          <p:nvPr/>
        </p:nvSpPr>
        <p:spPr>
          <a:xfrm>
            <a:off x="7518400" y="3632200"/>
            <a:ext cx="4254500" cy="850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8A90D9-EC85-BB9D-BC6F-464941DB0242}"/>
              </a:ext>
            </a:extLst>
          </p:cNvPr>
          <p:cNvSpPr/>
          <p:nvPr/>
        </p:nvSpPr>
        <p:spPr>
          <a:xfrm>
            <a:off x="7518400" y="3632200"/>
            <a:ext cx="76200" cy="850900"/>
          </a:xfrm>
          <a:prstGeom prst="rect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92A832A-6DCB-DA15-90CC-46A8CF8034EE}"/>
              </a:ext>
            </a:extLst>
          </p:cNvPr>
          <p:cNvSpPr/>
          <p:nvPr/>
        </p:nvSpPr>
        <p:spPr>
          <a:xfrm>
            <a:off x="7670800" y="3759200"/>
            <a:ext cx="3949700" cy="317500"/>
          </a:xfrm>
          <a:prstGeom prst="roundRect">
            <a:avLst/>
          </a:prstGeom>
          <a:solidFill>
            <a:srgbClr val="F0FD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CS-07  Order confirmation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2866ED-B5AD-E9FA-5B00-8D3FBB330E4A}"/>
              </a:ext>
            </a:extLst>
          </p:cNvPr>
          <p:cNvSpPr txBox="1"/>
          <p:nvPr/>
        </p:nvSpPr>
        <p:spPr>
          <a:xfrm>
            <a:off x="7670800" y="4165600"/>
            <a:ext cx="39497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Verified order reference, next steps and order-history route. Payment success is confirmed only by the backend.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F27BA7E-A4D4-8D4E-C14C-D46A235106E6}"/>
              </a:ext>
            </a:extLst>
          </p:cNvPr>
          <p:cNvSpPr/>
          <p:nvPr/>
        </p:nvSpPr>
        <p:spPr>
          <a:xfrm>
            <a:off x="12052300" y="3632200"/>
            <a:ext cx="4241800" cy="850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7CE0A91-72AF-1072-C710-AA9647EDD6F3}"/>
              </a:ext>
            </a:extLst>
          </p:cNvPr>
          <p:cNvSpPr/>
          <p:nvPr/>
        </p:nvSpPr>
        <p:spPr>
          <a:xfrm>
            <a:off x="12052300" y="3632200"/>
            <a:ext cx="76200" cy="8509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75E587C-A33E-C930-A7C3-F55EDCE15DA2}"/>
              </a:ext>
            </a:extLst>
          </p:cNvPr>
          <p:cNvSpPr/>
          <p:nvPr/>
        </p:nvSpPr>
        <p:spPr>
          <a:xfrm>
            <a:off x="12204700" y="3759200"/>
            <a:ext cx="39370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US" sz="1200" b="1">
                <a:solidFill>
                  <a:srgbClr val="0F172A"/>
                </a:solidFill>
                <a:latin typeface="Aptos" panose="020B0004020202020204" pitchFamily="34" charset="0"/>
              </a:rPr>
              <a:t>CS-08  My orders and order detail</a:t>
            </a:r>
            <a:endParaRPr lang="en-IN" sz="12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3851D5-B71C-A5A2-F7B3-6FF4296F76E0}"/>
              </a:ext>
            </a:extLst>
          </p:cNvPr>
          <p:cNvSpPr txBox="1"/>
          <p:nvPr/>
        </p:nvSpPr>
        <p:spPr>
          <a:xfrm>
            <a:off x="12204700" y="4165600"/>
            <a:ext cx="39370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Status timeline, invoice/payment context and fulfilment tracking.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67D5478C-C439-0B31-A8A0-3A6BE47AE9BC}"/>
              </a:ext>
            </a:extLst>
          </p:cNvPr>
          <p:cNvSpPr/>
          <p:nvPr/>
        </p:nvSpPr>
        <p:spPr>
          <a:xfrm>
            <a:off x="16573500" y="3632200"/>
            <a:ext cx="4229100" cy="850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8C36BD3-CF22-C661-88DF-32FBCCFCD3A6}"/>
              </a:ext>
            </a:extLst>
          </p:cNvPr>
          <p:cNvSpPr/>
          <p:nvPr/>
        </p:nvSpPr>
        <p:spPr>
          <a:xfrm>
            <a:off x="16573500" y="3632200"/>
            <a:ext cx="76200" cy="8509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44B30BF-7422-20AC-C2DD-1855EA26FD1A}"/>
              </a:ext>
            </a:extLst>
          </p:cNvPr>
          <p:cNvSpPr/>
          <p:nvPr/>
        </p:nvSpPr>
        <p:spPr>
          <a:xfrm>
            <a:off x="16725900" y="3759200"/>
            <a:ext cx="39243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CS-09  Repeat purchase schedules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0C077A-6AFD-5CA5-E089-1B24FD06A8B3}"/>
              </a:ext>
            </a:extLst>
          </p:cNvPr>
          <p:cNvSpPr txBox="1"/>
          <p:nvPr/>
        </p:nvSpPr>
        <p:spPr>
          <a:xfrm>
            <a:off x="16725900" y="4165600"/>
            <a:ext cx="39243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Create schedule &gt; select cadence &gt; review &gt; active schedule detail.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DFEDA9E-85FD-187F-AEA4-5E0C287E132F}"/>
              </a:ext>
            </a:extLst>
          </p:cNvPr>
          <p:cNvCxnSpPr/>
          <p:nvPr/>
        </p:nvCxnSpPr>
        <p:spPr>
          <a:xfrm>
            <a:off x="19748500" y="3403600"/>
            <a:ext cx="0" cy="228600"/>
          </a:xfrm>
          <a:prstGeom prst="line">
            <a:avLst/>
          </a:prstGeom>
          <a:ln w="19050">
            <a:solidFill>
              <a:srgbClr val="EA580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4BADB7C-2EAA-EB83-E2D4-BBFB316D4E47}"/>
              </a:ext>
            </a:extLst>
          </p:cNvPr>
          <p:cNvCxnSpPr/>
          <p:nvPr/>
        </p:nvCxnSpPr>
        <p:spPr>
          <a:xfrm>
            <a:off x="11772900" y="4051300"/>
            <a:ext cx="279400" cy="0"/>
          </a:xfrm>
          <a:prstGeom prst="line">
            <a:avLst/>
          </a:prstGeom>
          <a:ln w="19050">
            <a:solidFill>
              <a:srgbClr val="15803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2C3F690-FA35-F243-E00D-AF9D3375E2F2}"/>
              </a:ext>
            </a:extLst>
          </p:cNvPr>
          <p:cNvCxnSpPr/>
          <p:nvPr/>
        </p:nvCxnSpPr>
        <p:spPr>
          <a:xfrm>
            <a:off x="16294100" y="4051300"/>
            <a:ext cx="279400" cy="0"/>
          </a:xfrm>
          <a:prstGeom prst="line">
            <a:avLst/>
          </a:prstGeom>
          <a:ln w="19050">
            <a:solidFill>
              <a:srgbClr val="0F76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15FA6D2-482A-1760-B0AE-E54A7AE9F9C6}"/>
              </a:ext>
            </a:extLst>
          </p:cNvPr>
          <p:cNvSpPr/>
          <p:nvPr/>
        </p:nvSpPr>
        <p:spPr>
          <a:xfrm>
            <a:off x="533400" y="4953000"/>
            <a:ext cx="368300" cy="304800"/>
          </a:xfrm>
          <a:prstGeom prst="round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385176D-CEFD-FE72-966E-CFE3B3720656}"/>
              </a:ext>
            </a:extLst>
          </p:cNvPr>
          <p:cNvSpPr txBox="1"/>
          <p:nvPr/>
        </p:nvSpPr>
        <p:spPr>
          <a:xfrm>
            <a:off x="977900" y="4927600"/>
            <a:ext cx="6159500" cy="371897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1500" b="1">
                <a:solidFill>
                  <a:srgbClr val="102A43"/>
                </a:solidFill>
                <a:latin typeface="Aptos" panose="020B0004020202020204" pitchFamily="34" charset="0"/>
              </a:rPr>
              <a:t>CUSTOMER SELF-SERVICE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46AAEA7-2ABA-C70D-B059-A925575FD452}"/>
              </a:ext>
            </a:extLst>
          </p:cNvPr>
          <p:cNvCxnSpPr/>
          <p:nvPr/>
        </p:nvCxnSpPr>
        <p:spPr>
          <a:xfrm>
            <a:off x="533400" y="5334000"/>
            <a:ext cx="66040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6F99B45-7693-7824-640A-D9E69A6376EE}"/>
              </a:ext>
            </a:extLst>
          </p:cNvPr>
          <p:cNvSpPr/>
          <p:nvPr/>
        </p:nvSpPr>
        <p:spPr>
          <a:xfrm>
            <a:off x="533400" y="5524500"/>
            <a:ext cx="2032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5D44B40-9349-4E1B-1A27-A4D8E107468F}"/>
              </a:ext>
            </a:extLst>
          </p:cNvPr>
          <p:cNvSpPr/>
          <p:nvPr/>
        </p:nvSpPr>
        <p:spPr>
          <a:xfrm>
            <a:off x="533400" y="5524500"/>
            <a:ext cx="76200" cy="952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D8FD120-4FBD-CFE0-5B93-B0969774A558}"/>
              </a:ext>
            </a:extLst>
          </p:cNvPr>
          <p:cNvSpPr/>
          <p:nvPr/>
        </p:nvSpPr>
        <p:spPr>
          <a:xfrm>
            <a:off x="685800" y="5651500"/>
            <a:ext cx="17272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AC-01  Profile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ED9C674-D85D-D2C2-17D5-FB0B057A4128}"/>
              </a:ext>
            </a:extLst>
          </p:cNvPr>
          <p:cNvSpPr txBox="1"/>
          <p:nvPr/>
        </p:nvSpPr>
        <p:spPr>
          <a:xfrm>
            <a:off x="685800" y="6057900"/>
            <a:ext cx="1727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Identity, contact and account preferences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7D9BD60-B066-53E1-EF2C-A9CDA2BB3007}"/>
              </a:ext>
            </a:extLst>
          </p:cNvPr>
          <p:cNvSpPr/>
          <p:nvPr/>
        </p:nvSpPr>
        <p:spPr>
          <a:xfrm>
            <a:off x="2819400" y="5524500"/>
            <a:ext cx="2032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2C84D3B-056D-E3B3-648A-E0A3F2BF7137}"/>
              </a:ext>
            </a:extLst>
          </p:cNvPr>
          <p:cNvSpPr/>
          <p:nvPr/>
        </p:nvSpPr>
        <p:spPr>
          <a:xfrm>
            <a:off x="2819400" y="5524500"/>
            <a:ext cx="76200" cy="952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9EDC2D18-60EE-6B13-0A5B-4B455B632735}"/>
              </a:ext>
            </a:extLst>
          </p:cNvPr>
          <p:cNvSpPr/>
          <p:nvPr/>
        </p:nvSpPr>
        <p:spPr>
          <a:xfrm>
            <a:off x="2971800" y="5651500"/>
            <a:ext cx="17272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AC-02  Addresses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0EA811-9421-7F74-25A5-EA50CA79D171}"/>
              </a:ext>
            </a:extLst>
          </p:cNvPr>
          <p:cNvSpPr txBox="1"/>
          <p:nvPr/>
        </p:nvSpPr>
        <p:spPr>
          <a:xfrm>
            <a:off x="2971800" y="6057900"/>
            <a:ext cx="1727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Default shipping/billing, add, edit and archive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07002B0-D978-1458-1D8F-5A75BE777901}"/>
              </a:ext>
            </a:extLst>
          </p:cNvPr>
          <p:cNvSpPr/>
          <p:nvPr/>
        </p:nvSpPr>
        <p:spPr>
          <a:xfrm>
            <a:off x="5105400" y="5524500"/>
            <a:ext cx="2032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89293D5-AB6F-7021-E063-740F86F35ED9}"/>
              </a:ext>
            </a:extLst>
          </p:cNvPr>
          <p:cNvSpPr/>
          <p:nvPr/>
        </p:nvSpPr>
        <p:spPr>
          <a:xfrm>
            <a:off x="5105400" y="5524500"/>
            <a:ext cx="76200" cy="952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C96E675-A3B0-28DB-4F6D-0C73E41D3C6A}"/>
              </a:ext>
            </a:extLst>
          </p:cNvPr>
          <p:cNvSpPr/>
          <p:nvPr/>
        </p:nvSpPr>
        <p:spPr>
          <a:xfrm>
            <a:off x="5257800" y="5651500"/>
            <a:ext cx="17272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AC-03  Schedule builder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EAF48A-BE83-A49C-9464-DE441F68B3FD}"/>
              </a:ext>
            </a:extLst>
          </p:cNvPr>
          <p:cNvSpPr txBox="1"/>
          <p:nvPr/>
        </p:nvSpPr>
        <p:spPr>
          <a:xfrm>
            <a:off x="5257800" y="6057900"/>
            <a:ext cx="1727200" cy="602729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Products, quantity, cadence, payment and review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50DB2C06-6D1D-2171-EEA3-8973158E256D}"/>
              </a:ext>
            </a:extLst>
          </p:cNvPr>
          <p:cNvSpPr/>
          <p:nvPr/>
        </p:nvSpPr>
        <p:spPr>
          <a:xfrm>
            <a:off x="533400" y="6731000"/>
            <a:ext cx="6604000" cy="7747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2F75304-C6AE-65D2-D170-03D034A5471F}"/>
              </a:ext>
            </a:extLst>
          </p:cNvPr>
          <p:cNvSpPr/>
          <p:nvPr/>
        </p:nvSpPr>
        <p:spPr>
          <a:xfrm>
            <a:off x="533400" y="6731000"/>
            <a:ext cx="76200" cy="774700"/>
          </a:xfrm>
          <a:prstGeom prst="rect">
            <a:avLst/>
          </a:prstGeom>
          <a:solidFill>
            <a:srgbClr val="102A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0657542E-278A-26DE-8DE8-995A5AFA9983}"/>
              </a:ext>
            </a:extLst>
          </p:cNvPr>
          <p:cNvSpPr/>
          <p:nvPr/>
        </p:nvSpPr>
        <p:spPr>
          <a:xfrm>
            <a:off x="685800" y="6858000"/>
            <a:ext cx="62992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CUSTOMER RULES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ED475E0-5A0D-F0D0-FD0A-D9F63CFBAFC7}"/>
              </a:ext>
            </a:extLst>
          </p:cNvPr>
          <p:cNvSpPr txBox="1"/>
          <p:nvPr/>
        </p:nvSpPr>
        <p:spPr>
          <a:xfrm>
            <a:off x="685800" y="7264400"/>
            <a:ext cx="6299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Guest can browse. Customer authentication is required for cart actions and checkout. Quantity, pricing, stock and limits are always rechecked server-side.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CF9D20B-2674-56E6-A043-FF06E62AC6ED}"/>
              </a:ext>
            </a:extLst>
          </p:cNvPr>
          <p:cNvSpPr/>
          <p:nvPr/>
        </p:nvSpPr>
        <p:spPr>
          <a:xfrm>
            <a:off x="7518400" y="4953000"/>
            <a:ext cx="368300" cy="304800"/>
          </a:xfrm>
          <a:prstGeom prst="round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EEE5194-8A98-6A0B-E7CF-DF8E9EDB86B8}"/>
              </a:ext>
            </a:extLst>
          </p:cNvPr>
          <p:cNvSpPr txBox="1"/>
          <p:nvPr/>
        </p:nvSpPr>
        <p:spPr>
          <a:xfrm>
            <a:off x="7962900" y="4927600"/>
            <a:ext cx="8318500" cy="371897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500" b="1">
                <a:solidFill>
                  <a:srgbClr val="102A43"/>
                </a:solidFill>
                <a:latin typeface="Aptos" panose="020B0004020202020204" pitchFamily="34" charset="0"/>
              </a:rPr>
              <a:t>ORDER, FULFILMENT AND FINANCE OPERATIONS</a:t>
            </a:r>
            <a:endParaRPr lang="en-IN" sz="1500" b="1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E43E071-81C2-3F90-60E7-E9DFAAF1D3D6}"/>
              </a:ext>
            </a:extLst>
          </p:cNvPr>
          <p:cNvCxnSpPr/>
          <p:nvPr/>
        </p:nvCxnSpPr>
        <p:spPr>
          <a:xfrm>
            <a:off x="7518400" y="5334000"/>
            <a:ext cx="87630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3F9AEA0-9C35-2AE8-67FE-0170660C4E14}"/>
              </a:ext>
            </a:extLst>
          </p:cNvPr>
          <p:cNvSpPr/>
          <p:nvPr/>
        </p:nvSpPr>
        <p:spPr>
          <a:xfrm>
            <a:off x="7518400" y="5524500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DF1BB88-869B-1FE5-DCBC-03F06CDA213A}"/>
              </a:ext>
            </a:extLst>
          </p:cNvPr>
          <p:cNvSpPr/>
          <p:nvPr/>
        </p:nvSpPr>
        <p:spPr>
          <a:xfrm>
            <a:off x="7518400" y="5524500"/>
            <a:ext cx="76200" cy="952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627FAD4E-CA56-11FD-0C7B-173F351BBB82}"/>
              </a:ext>
            </a:extLst>
          </p:cNvPr>
          <p:cNvSpPr/>
          <p:nvPr/>
        </p:nvSpPr>
        <p:spPr>
          <a:xfrm>
            <a:off x="7670800" y="5651500"/>
            <a:ext cx="16002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OF-01  Order queue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9E5F6B1-9013-0F07-C61E-A615A621C390}"/>
              </a:ext>
            </a:extLst>
          </p:cNvPr>
          <p:cNvSpPr txBox="1"/>
          <p:nvPr/>
        </p:nvSpPr>
        <p:spPr>
          <a:xfrm>
            <a:off x="7670800" y="6057900"/>
            <a:ext cx="1600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Search, filter and open an order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2D41D7A5-F388-0274-1E40-E339F9809DED}"/>
              </a:ext>
            </a:extLst>
          </p:cNvPr>
          <p:cNvSpPr/>
          <p:nvPr/>
        </p:nvSpPr>
        <p:spPr>
          <a:xfrm>
            <a:off x="9690100" y="5524500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56DD54F-25E0-0D09-6A3F-10E6BEC4CF6E}"/>
              </a:ext>
            </a:extLst>
          </p:cNvPr>
          <p:cNvSpPr/>
          <p:nvPr/>
        </p:nvSpPr>
        <p:spPr>
          <a:xfrm>
            <a:off x="9690100" y="5524500"/>
            <a:ext cx="76200" cy="952500"/>
          </a:xfrm>
          <a:prstGeom prst="rect">
            <a:avLst/>
          </a:prstGeom>
          <a:solidFill>
            <a:srgbClr val="A1620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3CBAC766-C5D1-410E-1490-96E5870021D6}"/>
              </a:ext>
            </a:extLst>
          </p:cNvPr>
          <p:cNvSpPr/>
          <p:nvPr/>
        </p:nvSpPr>
        <p:spPr>
          <a:xfrm>
            <a:off x="9842500" y="5651500"/>
            <a:ext cx="1600200" cy="317500"/>
          </a:xfrm>
          <a:prstGeom prst="roundRect">
            <a:avLst/>
          </a:prstGeom>
          <a:solidFill>
            <a:srgbClr val="FEFCE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OF-02  Order review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094AE51-E15B-9AB7-C7E6-2A0E95DC13BB}"/>
              </a:ext>
            </a:extLst>
          </p:cNvPr>
          <p:cNvSpPr txBox="1"/>
          <p:nvPr/>
        </p:nvSpPr>
        <p:spPr>
          <a:xfrm>
            <a:off x="9842500" y="6057900"/>
            <a:ext cx="1600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Approval, customer limit and order history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7CCE5926-46A1-A9F5-386E-D40CA6DB314F}"/>
              </a:ext>
            </a:extLst>
          </p:cNvPr>
          <p:cNvSpPr/>
          <p:nvPr/>
        </p:nvSpPr>
        <p:spPr>
          <a:xfrm>
            <a:off x="11861800" y="5524500"/>
            <a:ext cx="2032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3A9079B-D981-534A-CD4D-6A196C35011E}"/>
              </a:ext>
            </a:extLst>
          </p:cNvPr>
          <p:cNvSpPr/>
          <p:nvPr/>
        </p:nvSpPr>
        <p:spPr>
          <a:xfrm>
            <a:off x="11861800" y="5524500"/>
            <a:ext cx="76200" cy="952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C961E229-58E6-74DC-B502-70E31A62EA9C}"/>
              </a:ext>
            </a:extLst>
          </p:cNvPr>
          <p:cNvSpPr/>
          <p:nvPr/>
        </p:nvSpPr>
        <p:spPr>
          <a:xfrm>
            <a:off x="12014200" y="5651500"/>
            <a:ext cx="17272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OF-03  Fulfilment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1692715-61FC-9139-710A-FBF95C00C426}"/>
              </a:ext>
            </a:extLst>
          </p:cNvPr>
          <p:cNvSpPr txBox="1"/>
          <p:nvPr/>
        </p:nvSpPr>
        <p:spPr>
          <a:xfrm>
            <a:off x="12014200" y="6057900"/>
            <a:ext cx="1727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Allocate stock, shipment and status transitions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9CE04A31-44C6-827D-1560-2384C07205C4}"/>
              </a:ext>
            </a:extLst>
          </p:cNvPr>
          <p:cNvSpPr/>
          <p:nvPr/>
        </p:nvSpPr>
        <p:spPr>
          <a:xfrm>
            <a:off x="14160500" y="5524500"/>
            <a:ext cx="21209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79EE150-3517-5CF3-D8E8-CC64A77A7F65}"/>
              </a:ext>
            </a:extLst>
          </p:cNvPr>
          <p:cNvSpPr/>
          <p:nvPr/>
        </p:nvSpPr>
        <p:spPr>
          <a:xfrm>
            <a:off x="14160500" y="5524500"/>
            <a:ext cx="76200" cy="952500"/>
          </a:xfrm>
          <a:prstGeom prst="rect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7C5EA3D0-6DC6-A3E0-1F11-341CD015A6EF}"/>
              </a:ext>
            </a:extLst>
          </p:cNvPr>
          <p:cNvSpPr/>
          <p:nvPr/>
        </p:nvSpPr>
        <p:spPr>
          <a:xfrm>
            <a:off x="14312900" y="5651500"/>
            <a:ext cx="1816100" cy="317500"/>
          </a:xfrm>
          <a:prstGeom prst="roundRect">
            <a:avLst/>
          </a:prstGeom>
          <a:solidFill>
            <a:srgbClr val="F0FD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OF-04  Delivery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C315291-0821-3B5A-85CF-B4DBCDAC7516}"/>
              </a:ext>
            </a:extLst>
          </p:cNvPr>
          <p:cNvSpPr txBox="1"/>
          <p:nvPr/>
        </p:nvSpPr>
        <p:spPr>
          <a:xfrm>
            <a:off x="14312900" y="6057900"/>
            <a:ext cx="18161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Delivered, return/refund pathway where applicable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B6C4627-A658-276F-F2C3-DD703866D76E}"/>
              </a:ext>
            </a:extLst>
          </p:cNvPr>
          <p:cNvCxnSpPr/>
          <p:nvPr/>
        </p:nvCxnSpPr>
        <p:spPr>
          <a:xfrm>
            <a:off x="9423400" y="5994400"/>
            <a:ext cx="266700" cy="0"/>
          </a:xfrm>
          <a:prstGeom prst="line">
            <a:avLst/>
          </a:prstGeom>
          <a:ln w="19050">
            <a:solidFill>
              <a:srgbClr val="1D4ED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17B9C0A-BF2A-745E-0734-9AACE899E2F5}"/>
              </a:ext>
            </a:extLst>
          </p:cNvPr>
          <p:cNvCxnSpPr/>
          <p:nvPr/>
        </p:nvCxnSpPr>
        <p:spPr>
          <a:xfrm>
            <a:off x="11595100" y="5994400"/>
            <a:ext cx="266700" cy="0"/>
          </a:xfrm>
          <a:prstGeom prst="line">
            <a:avLst/>
          </a:prstGeom>
          <a:ln w="19050">
            <a:solidFill>
              <a:srgbClr val="A1620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0D7A4A4-8796-7555-4DDA-30D992237EF5}"/>
              </a:ext>
            </a:extLst>
          </p:cNvPr>
          <p:cNvCxnSpPr/>
          <p:nvPr/>
        </p:nvCxnSpPr>
        <p:spPr>
          <a:xfrm>
            <a:off x="13893800" y="5994400"/>
            <a:ext cx="266700" cy="0"/>
          </a:xfrm>
          <a:prstGeom prst="line">
            <a:avLst/>
          </a:prstGeom>
          <a:ln w="19050">
            <a:solidFill>
              <a:srgbClr val="0F76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68A02D8F-96EC-709D-FAA4-87F0E5237BC1}"/>
              </a:ext>
            </a:extLst>
          </p:cNvPr>
          <p:cNvSpPr/>
          <p:nvPr/>
        </p:nvSpPr>
        <p:spPr>
          <a:xfrm>
            <a:off x="7518400" y="6731000"/>
            <a:ext cx="4241800" cy="7747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2486844-2121-3F85-D9AA-E6E8F5826911}"/>
              </a:ext>
            </a:extLst>
          </p:cNvPr>
          <p:cNvSpPr/>
          <p:nvPr/>
        </p:nvSpPr>
        <p:spPr>
          <a:xfrm>
            <a:off x="7518400" y="6731000"/>
            <a:ext cx="76200" cy="7747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147FD4D2-6D98-78A2-CCC9-895D4EE8A048}"/>
              </a:ext>
            </a:extLst>
          </p:cNvPr>
          <p:cNvSpPr/>
          <p:nvPr/>
        </p:nvSpPr>
        <p:spPr>
          <a:xfrm>
            <a:off x="7670800" y="6858000"/>
            <a:ext cx="3937000" cy="317500"/>
          </a:xfrm>
          <a:prstGeom prst="round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PY-01  Payments and reconciliation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6E6AB86-A307-4FDE-59C8-6FF3B569A27E}"/>
              </a:ext>
            </a:extLst>
          </p:cNvPr>
          <p:cNvSpPr txBox="1"/>
          <p:nvPr/>
        </p:nvSpPr>
        <p:spPr>
          <a:xfrm>
            <a:off x="7670800" y="7264400"/>
            <a:ext cx="39370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Captured, pending, failed, payment links, refunds and gateway event audit.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8FD8B5BE-B106-9F63-8291-0FD804C98FC0}"/>
              </a:ext>
            </a:extLst>
          </p:cNvPr>
          <p:cNvSpPr/>
          <p:nvPr/>
        </p:nvSpPr>
        <p:spPr>
          <a:xfrm>
            <a:off x="12039600" y="6731000"/>
            <a:ext cx="4241800" cy="7747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19EDBEB-6913-81AF-3432-46BD960CA06A}"/>
              </a:ext>
            </a:extLst>
          </p:cNvPr>
          <p:cNvSpPr/>
          <p:nvPr/>
        </p:nvSpPr>
        <p:spPr>
          <a:xfrm>
            <a:off x="12039600" y="6731000"/>
            <a:ext cx="76200" cy="7747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F34DF308-F130-AE06-C11B-3D6C96BF0A6A}"/>
              </a:ext>
            </a:extLst>
          </p:cNvPr>
          <p:cNvSpPr/>
          <p:nvPr/>
        </p:nvSpPr>
        <p:spPr>
          <a:xfrm>
            <a:off x="12192000" y="6858000"/>
            <a:ext cx="39370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US" sz="1200" b="1">
                <a:solidFill>
                  <a:srgbClr val="0F172A"/>
                </a:solidFill>
                <a:latin typeface="Aptos" panose="020B0004020202020204" pitchFamily="34" charset="0"/>
              </a:rPr>
              <a:t>IN-01  Inventory and stock movement</a:t>
            </a:r>
            <a:endParaRPr lang="en-IN" sz="1200" b="1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32EF452-E143-5B17-A5AE-525B8265995F}"/>
              </a:ext>
            </a:extLst>
          </p:cNvPr>
          <p:cNvSpPr txBox="1"/>
          <p:nvPr/>
        </p:nvSpPr>
        <p:spPr>
          <a:xfrm>
            <a:off x="12192000" y="7264400"/>
            <a:ext cx="39370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Locations, balances, reservations, low-stock thresholds and adjustments.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14DD6D4-B374-0024-23A5-3570CF8C813C}"/>
              </a:ext>
            </a:extLst>
          </p:cNvPr>
          <p:cNvSpPr/>
          <p:nvPr/>
        </p:nvSpPr>
        <p:spPr>
          <a:xfrm>
            <a:off x="16573500" y="4953000"/>
            <a:ext cx="368300" cy="304800"/>
          </a:xfrm>
          <a:prstGeom prst="round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EFE2F0C-9332-6058-2954-3BDF7547C78A}"/>
              </a:ext>
            </a:extLst>
          </p:cNvPr>
          <p:cNvSpPr txBox="1"/>
          <p:nvPr/>
        </p:nvSpPr>
        <p:spPr>
          <a:xfrm>
            <a:off x="17018000" y="4927600"/>
            <a:ext cx="3784600" cy="371897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1500" b="1">
                <a:solidFill>
                  <a:srgbClr val="102A43"/>
                </a:solidFill>
                <a:latin typeface="Aptos" panose="020B0004020202020204" pitchFamily="34" charset="0"/>
              </a:rPr>
              <a:t>ADMIN MANAGEMENT WORKSPACE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631D78B-71E8-8005-E804-8F252E16BE10}"/>
              </a:ext>
            </a:extLst>
          </p:cNvPr>
          <p:cNvCxnSpPr/>
          <p:nvPr/>
        </p:nvCxnSpPr>
        <p:spPr>
          <a:xfrm>
            <a:off x="16573500" y="5334000"/>
            <a:ext cx="42291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C0DFA71C-AB88-2ABE-DC43-26BE83B922F0}"/>
              </a:ext>
            </a:extLst>
          </p:cNvPr>
          <p:cNvSpPr/>
          <p:nvPr/>
        </p:nvSpPr>
        <p:spPr>
          <a:xfrm>
            <a:off x="16573500" y="5524500"/>
            <a:ext cx="42291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3849BCB-864D-C8F5-7293-5A09B4B7B4D2}"/>
              </a:ext>
            </a:extLst>
          </p:cNvPr>
          <p:cNvSpPr/>
          <p:nvPr/>
        </p:nvSpPr>
        <p:spPr>
          <a:xfrm>
            <a:off x="16573500" y="5524500"/>
            <a:ext cx="76200" cy="952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C7032AEB-78C6-798A-95AC-E893572707AD}"/>
              </a:ext>
            </a:extLst>
          </p:cNvPr>
          <p:cNvSpPr/>
          <p:nvPr/>
        </p:nvSpPr>
        <p:spPr>
          <a:xfrm>
            <a:off x="16725900" y="5651500"/>
            <a:ext cx="39243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AD-01  Dashboard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375EF67-2C98-91E9-459B-3257BCD45C13}"/>
              </a:ext>
            </a:extLst>
          </p:cNvPr>
          <p:cNvSpPr txBox="1"/>
          <p:nvPr/>
        </p:nvSpPr>
        <p:spPr>
          <a:xfrm>
            <a:off x="16725900" y="6057900"/>
            <a:ext cx="39243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Sales, orders, payments, low stock, recurring and alerts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2C6A6A50-A828-D2B2-2398-D7ABAE78D708}"/>
              </a:ext>
            </a:extLst>
          </p:cNvPr>
          <p:cNvSpPr/>
          <p:nvPr/>
        </p:nvSpPr>
        <p:spPr>
          <a:xfrm>
            <a:off x="16573500" y="6731000"/>
            <a:ext cx="2032000" cy="977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2F7D53B-3C6C-FB27-C0D4-0D57D0BD9C90}"/>
              </a:ext>
            </a:extLst>
          </p:cNvPr>
          <p:cNvSpPr/>
          <p:nvPr/>
        </p:nvSpPr>
        <p:spPr>
          <a:xfrm>
            <a:off x="16573500" y="6731000"/>
            <a:ext cx="76200" cy="9779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2D36D678-6A2E-E11B-18C0-E608F02607CD}"/>
              </a:ext>
            </a:extLst>
          </p:cNvPr>
          <p:cNvSpPr/>
          <p:nvPr/>
        </p:nvSpPr>
        <p:spPr>
          <a:xfrm>
            <a:off x="16725900" y="6858000"/>
            <a:ext cx="17272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AD-02  Catalogue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4C7F155-826B-CDF3-D882-8F0A9AB0F47D}"/>
              </a:ext>
            </a:extLst>
          </p:cNvPr>
          <p:cNvSpPr txBox="1"/>
          <p:nvPr/>
        </p:nvSpPr>
        <p:spPr>
          <a:xfrm>
            <a:off x="16725900" y="7264400"/>
            <a:ext cx="1727200" cy="602729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Categories, products, media, variants, specs, currency prices and import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5E716FA4-DCF3-404E-8A88-C412100DDA2E}"/>
              </a:ext>
            </a:extLst>
          </p:cNvPr>
          <p:cNvSpPr/>
          <p:nvPr/>
        </p:nvSpPr>
        <p:spPr>
          <a:xfrm>
            <a:off x="18770600" y="6731000"/>
            <a:ext cx="2032000" cy="977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7887074-500B-4C3D-C10F-700A2EF3112A}"/>
              </a:ext>
            </a:extLst>
          </p:cNvPr>
          <p:cNvSpPr/>
          <p:nvPr/>
        </p:nvSpPr>
        <p:spPr>
          <a:xfrm>
            <a:off x="18770600" y="6731000"/>
            <a:ext cx="76200" cy="9779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55BA0239-116A-13C9-5C2E-4AED12029B88}"/>
              </a:ext>
            </a:extLst>
          </p:cNvPr>
          <p:cNvSpPr/>
          <p:nvPr/>
        </p:nvSpPr>
        <p:spPr>
          <a:xfrm>
            <a:off x="18923000" y="6858000"/>
            <a:ext cx="17272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AD-03  Customers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1F9D4F2-CB1F-CE44-576C-71EC6939D187}"/>
              </a:ext>
            </a:extLst>
          </p:cNvPr>
          <p:cNvSpPr txBox="1"/>
          <p:nvPr/>
        </p:nvSpPr>
        <p:spPr>
          <a:xfrm>
            <a:off x="18923000" y="7264400"/>
            <a:ext cx="1727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Customer detail, limits and history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7E27EEAA-B5E2-4EBF-A2B7-0FF2357A2128}"/>
              </a:ext>
            </a:extLst>
          </p:cNvPr>
          <p:cNvSpPr/>
          <p:nvPr/>
        </p:nvSpPr>
        <p:spPr>
          <a:xfrm>
            <a:off x="533400" y="8064500"/>
            <a:ext cx="368300" cy="304800"/>
          </a:xfrm>
          <a:prstGeom prst="round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DC35BC8-F13F-B59E-CC2B-13902F4178C5}"/>
              </a:ext>
            </a:extLst>
          </p:cNvPr>
          <p:cNvSpPr txBox="1"/>
          <p:nvPr/>
        </p:nvSpPr>
        <p:spPr>
          <a:xfrm>
            <a:off x="977900" y="8039100"/>
            <a:ext cx="10223500" cy="371897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1500" b="1">
                <a:solidFill>
                  <a:srgbClr val="102A43"/>
                </a:solidFill>
                <a:latin typeface="Aptos" panose="020B0004020202020204" pitchFamily="34" charset="0"/>
              </a:rPr>
              <a:t>AUTOMATION, NOTIFICATIONS AND INTEGRATIONS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559ACEF-C7A4-0F63-FAA0-3751B12C3F9F}"/>
              </a:ext>
            </a:extLst>
          </p:cNvPr>
          <p:cNvCxnSpPr/>
          <p:nvPr/>
        </p:nvCxnSpPr>
        <p:spPr>
          <a:xfrm>
            <a:off x="533400" y="8445500"/>
            <a:ext cx="106680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D9FA2754-1924-1EEA-DE3A-FD2FE57E8C72}"/>
              </a:ext>
            </a:extLst>
          </p:cNvPr>
          <p:cNvSpPr/>
          <p:nvPr/>
        </p:nvSpPr>
        <p:spPr>
          <a:xfrm>
            <a:off x="533400" y="8636000"/>
            <a:ext cx="2413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AC9E768-B934-4A36-39FB-E13B81BCCADE}"/>
              </a:ext>
            </a:extLst>
          </p:cNvPr>
          <p:cNvSpPr/>
          <p:nvPr/>
        </p:nvSpPr>
        <p:spPr>
          <a:xfrm>
            <a:off x="533400" y="8636000"/>
            <a:ext cx="76200" cy="952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D0EF4DF0-B35C-AFC3-FC9E-222BDCAE9E1A}"/>
              </a:ext>
            </a:extLst>
          </p:cNvPr>
          <p:cNvSpPr/>
          <p:nvPr/>
        </p:nvSpPr>
        <p:spPr>
          <a:xfrm>
            <a:off x="685800" y="8763000"/>
            <a:ext cx="21082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AT-01  Background worker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539D5CF-5EF7-A789-48CF-AB884124B361}"/>
              </a:ext>
            </a:extLst>
          </p:cNvPr>
          <p:cNvSpPr txBox="1"/>
          <p:nvPr/>
        </p:nvSpPr>
        <p:spPr>
          <a:xfrm>
            <a:off x="685800" y="9169400"/>
            <a:ext cx="2108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Database queue claims jobs with leases and retries.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D0B6A803-BCF2-B432-B6F7-9529FEF838ED}"/>
              </a:ext>
            </a:extLst>
          </p:cNvPr>
          <p:cNvSpPr/>
          <p:nvPr/>
        </p:nvSpPr>
        <p:spPr>
          <a:xfrm>
            <a:off x="3213100" y="8636000"/>
            <a:ext cx="2413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DFC3E52-FD6B-BD7B-0163-1366FD0DFF78}"/>
              </a:ext>
            </a:extLst>
          </p:cNvPr>
          <p:cNvSpPr/>
          <p:nvPr/>
        </p:nvSpPr>
        <p:spPr>
          <a:xfrm>
            <a:off x="3213100" y="8636000"/>
            <a:ext cx="76200" cy="952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66BC15A-59A2-5A5E-832C-D6D0B1339A92}"/>
              </a:ext>
            </a:extLst>
          </p:cNvPr>
          <p:cNvSpPr/>
          <p:nvPr/>
        </p:nvSpPr>
        <p:spPr>
          <a:xfrm>
            <a:off x="3365500" y="8763000"/>
            <a:ext cx="21082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AT-02  Schedule engine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B28E6A6-9074-C57F-55D5-133624A96628}"/>
              </a:ext>
            </a:extLst>
          </p:cNvPr>
          <p:cNvSpPr txBox="1"/>
          <p:nvPr/>
        </p:nvSpPr>
        <p:spPr>
          <a:xfrm>
            <a:off x="3365500" y="9169400"/>
            <a:ext cx="2108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Recurring runs, reminders and payment-link expiry.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BE7AC274-4842-7F70-4D1C-5E07765B8865}"/>
              </a:ext>
            </a:extLst>
          </p:cNvPr>
          <p:cNvSpPr/>
          <p:nvPr/>
        </p:nvSpPr>
        <p:spPr>
          <a:xfrm>
            <a:off x="5892800" y="8636000"/>
            <a:ext cx="2413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89F685D-3C2A-2CE6-7AB2-C0331742BB46}"/>
              </a:ext>
            </a:extLst>
          </p:cNvPr>
          <p:cNvSpPr/>
          <p:nvPr/>
        </p:nvSpPr>
        <p:spPr>
          <a:xfrm>
            <a:off x="5892800" y="8636000"/>
            <a:ext cx="76200" cy="952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61AD3D3E-B697-4B42-C63C-86BD62E9AF42}"/>
              </a:ext>
            </a:extLst>
          </p:cNvPr>
          <p:cNvSpPr/>
          <p:nvPr/>
        </p:nvSpPr>
        <p:spPr>
          <a:xfrm>
            <a:off x="6045200" y="8763000"/>
            <a:ext cx="2108200" cy="317500"/>
          </a:xfrm>
          <a:prstGeom prst="round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AT-03  Notification outbox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4026580-624A-D4A7-9936-DC43EC32558B}"/>
              </a:ext>
            </a:extLst>
          </p:cNvPr>
          <p:cNvSpPr txBox="1"/>
          <p:nvPr/>
        </p:nvSpPr>
        <p:spPr>
          <a:xfrm>
            <a:off x="6045200" y="9169400"/>
            <a:ext cx="21082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Email delivery, retries and failed notification monitoring.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42BEA814-F721-3496-B916-B65E59ADA402}"/>
              </a:ext>
            </a:extLst>
          </p:cNvPr>
          <p:cNvSpPr/>
          <p:nvPr/>
        </p:nvSpPr>
        <p:spPr>
          <a:xfrm>
            <a:off x="8572500" y="8636000"/>
            <a:ext cx="26289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E0F7689-1368-22D5-2F98-5FC062E46256}"/>
              </a:ext>
            </a:extLst>
          </p:cNvPr>
          <p:cNvSpPr/>
          <p:nvPr/>
        </p:nvSpPr>
        <p:spPr>
          <a:xfrm>
            <a:off x="8572500" y="8636000"/>
            <a:ext cx="76200" cy="952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EBC585B1-67A2-2F44-208A-8FF343EC2F0C}"/>
              </a:ext>
            </a:extLst>
          </p:cNvPr>
          <p:cNvSpPr/>
          <p:nvPr/>
        </p:nvSpPr>
        <p:spPr>
          <a:xfrm>
            <a:off x="8724900" y="8763000"/>
            <a:ext cx="23241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AT-04  Integrations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25D6744-2444-1459-84C5-9FED9CC2AB54}"/>
              </a:ext>
            </a:extLst>
          </p:cNvPr>
          <p:cNvSpPr txBox="1"/>
          <p:nvPr/>
        </p:nvSpPr>
        <p:spPr>
          <a:xfrm>
            <a:off x="8724900" y="9169400"/>
            <a:ext cx="23241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Payment gateways, webhook validation and connector settings.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73299A8D-8AC2-B50B-EE59-F0DFC8FB49C9}"/>
              </a:ext>
            </a:extLst>
          </p:cNvPr>
          <p:cNvCxnSpPr/>
          <p:nvPr/>
        </p:nvCxnSpPr>
        <p:spPr>
          <a:xfrm>
            <a:off x="2946400" y="9118600"/>
            <a:ext cx="266700" cy="0"/>
          </a:xfrm>
          <a:prstGeom prst="line">
            <a:avLst/>
          </a:prstGeom>
          <a:ln w="19050">
            <a:solidFill>
              <a:srgbClr val="0F76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0326E97E-5CD8-C04A-7629-6067F317840E}"/>
              </a:ext>
            </a:extLst>
          </p:cNvPr>
          <p:cNvCxnSpPr/>
          <p:nvPr/>
        </p:nvCxnSpPr>
        <p:spPr>
          <a:xfrm>
            <a:off x="5626100" y="9118600"/>
            <a:ext cx="266700" cy="0"/>
          </a:xfrm>
          <a:prstGeom prst="line">
            <a:avLst/>
          </a:prstGeom>
          <a:ln w="19050">
            <a:solidFill>
              <a:srgbClr val="0F766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6626C09A-3C59-1E17-90C7-5D089F45A744}"/>
              </a:ext>
            </a:extLst>
          </p:cNvPr>
          <p:cNvCxnSpPr/>
          <p:nvPr/>
        </p:nvCxnSpPr>
        <p:spPr>
          <a:xfrm>
            <a:off x="8305800" y="9118600"/>
            <a:ext cx="266700" cy="0"/>
          </a:xfrm>
          <a:prstGeom prst="line">
            <a:avLst/>
          </a:prstGeom>
          <a:ln w="19050">
            <a:solidFill>
              <a:srgbClr val="1D4ED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318FE0C9-38B4-D94E-55B9-8F648102A444}"/>
              </a:ext>
            </a:extLst>
          </p:cNvPr>
          <p:cNvSpPr/>
          <p:nvPr/>
        </p:nvSpPr>
        <p:spPr>
          <a:xfrm>
            <a:off x="533400" y="9842500"/>
            <a:ext cx="10668000" cy="736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E37E0F40-BD26-A2FB-1AA7-157181222E7E}"/>
              </a:ext>
            </a:extLst>
          </p:cNvPr>
          <p:cNvSpPr/>
          <p:nvPr/>
        </p:nvSpPr>
        <p:spPr>
          <a:xfrm>
            <a:off x="533400" y="9842500"/>
            <a:ext cx="76200" cy="736600"/>
          </a:xfrm>
          <a:prstGeom prst="rect">
            <a:avLst/>
          </a:prstGeom>
          <a:solidFill>
            <a:srgbClr val="102A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71DCBF6A-98C9-75BF-25BD-21D538F77523}"/>
              </a:ext>
            </a:extLst>
          </p:cNvPr>
          <p:cNvSpPr/>
          <p:nvPr/>
        </p:nvSpPr>
        <p:spPr>
          <a:xfrm>
            <a:off x="685800" y="9969500"/>
            <a:ext cx="103632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EVENT FLOW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B2EBBE5-3120-AA2D-48CE-786B9B8B51D3}"/>
              </a:ext>
            </a:extLst>
          </p:cNvPr>
          <p:cNvSpPr txBox="1"/>
          <p:nvPr/>
        </p:nvSpPr>
        <p:spPr>
          <a:xfrm>
            <a:off x="685800" y="10375900"/>
            <a:ext cx="103632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Order/payment events can create notifications and queued work. A failed task is retried or marked dead for operational follow-up.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12492238-FCFC-E01E-BDAA-614FB4402944}"/>
              </a:ext>
            </a:extLst>
          </p:cNvPr>
          <p:cNvSpPr/>
          <p:nvPr/>
        </p:nvSpPr>
        <p:spPr>
          <a:xfrm>
            <a:off x="11582400" y="8064500"/>
            <a:ext cx="368300" cy="304800"/>
          </a:xfrm>
          <a:prstGeom prst="roundRect">
            <a:avLst/>
          </a:prstGeom>
          <a:solidFill>
            <a:srgbClr val="102A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54289B6-6053-A722-9F5C-0F25C33A2450}"/>
              </a:ext>
            </a:extLst>
          </p:cNvPr>
          <p:cNvSpPr txBox="1"/>
          <p:nvPr/>
        </p:nvSpPr>
        <p:spPr>
          <a:xfrm>
            <a:off x="12026900" y="8039100"/>
            <a:ext cx="8775700" cy="371897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1500" b="1">
                <a:solidFill>
                  <a:srgbClr val="102A43"/>
                </a:solidFill>
                <a:latin typeface="Aptos" panose="020B0004020202020204" pitchFamily="34" charset="0"/>
              </a:rPr>
              <a:t>GOVERNANCE, REPORTING AND SECURITY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56BA9C52-0A02-BEB4-177E-F6CFF7D8B3F8}"/>
              </a:ext>
            </a:extLst>
          </p:cNvPr>
          <p:cNvCxnSpPr/>
          <p:nvPr/>
        </p:nvCxnSpPr>
        <p:spPr>
          <a:xfrm>
            <a:off x="11582400" y="8445500"/>
            <a:ext cx="922020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7C131388-0733-0107-52F2-77F3475814F7}"/>
              </a:ext>
            </a:extLst>
          </p:cNvPr>
          <p:cNvSpPr/>
          <p:nvPr/>
        </p:nvSpPr>
        <p:spPr>
          <a:xfrm>
            <a:off x="11582400" y="8636000"/>
            <a:ext cx="27686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7AD2066-5E4C-DEF5-36CA-B69F84565161}"/>
              </a:ext>
            </a:extLst>
          </p:cNvPr>
          <p:cNvSpPr/>
          <p:nvPr/>
        </p:nvSpPr>
        <p:spPr>
          <a:xfrm>
            <a:off x="11582400" y="8636000"/>
            <a:ext cx="76200" cy="952500"/>
          </a:xfrm>
          <a:prstGeom prst="rect">
            <a:avLst/>
          </a:prstGeom>
          <a:solidFill>
            <a:srgbClr val="102A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0D8E9548-83E6-84B3-93F8-08196BCE9C79}"/>
              </a:ext>
            </a:extLst>
          </p:cNvPr>
          <p:cNvSpPr/>
          <p:nvPr/>
        </p:nvSpPr>
        <p:spPr>
          <a:xfrm>
            <a:off x="11734800" y="8763000"/>
            <a:ext cx="24638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GV-01  Staff and roles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9EDDE99-300C-5A41-8459-0E7E53FFA30E}"/>
              </a:ext>
            </a:extLst>
          </p:cNvPr>
          <p:cNvSpPr txBox="1"/>
          <p:nvPr/>
        </p:nvSpPr>
        <p:spPr>
          <a:xfrm>
            <a:off x="11734800" y="9169400"/>
            <a:ext cx="24638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Staff, temporary passwords, role assignments and permission resolution.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C66120BF-2EDC-2143-F6B9-EFA1F20D3073}"/>
              </a:ext>
            </a:extLst>
          </p:cNvPr>
          <p:cNvSpPr/>
          <p:nvPr/>
        </p:nvSpPr>
        <p:spPr>
          <a:xfrm>
            <a:off x="14617700" y="8636000"/>
            <a:ext cx="27686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F019E83-3E6E-920C-5F33-C634B2F48291}"/>
              </a:ext>
            </a:extLst>
          </p:cNvPr>
          <p:cNvSpPr/>
          <p:nvPr/>
        </p:nvSpPr>
        <p:spPr>
          <a:xfrm>
            <a:off x="14617700" y="8636000"/>
            <a:ext cx="76200" cy="952500"/>
          </a:xfrm>
          <a:prstGeom prst="rect">
            <a:avLst/>
          </a:prstGeom>
          <a:solidFill>
            <a:srgbClr val="102A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3C27402D-7CEF-3CCF-55B3-A4602F490DEB}"/>
              </a:ext>
            </a:extLst>
          </p:cNvPr>
          <p:cNvSpPr/>
          <p:nvPr/>
        </p:nvSpPr>
        <p:spPr>
          <a:xfrm>
            <a:off x="14770100" y="8763000"/>
            <a:ext cx="24638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GV-02  Settings and policy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71B8258-BB3D-2D59-4746-D1E0EA71F6BA}"/>
              </a:ext>
            </a:extLst>
          </p:cNvPr>
          <p:cNvSpPr txBox="1"/>
          <p:nvPr/>
        </p:nvSpPr>
        <p:spPr>
          <a:xfrm>
            <a:off x="14770100" y="9169400"/>
            <a:ext cx="24638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Business profile, currencies, tax/configuration and feature flags.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B61D9366-EBD1-449B-3263-703123F22F3E}"/>
              </a:ext>
            </a:extLst>
          </p:cNvPr>
          <p:cNvSpPr/>
          <p:nvPr/>
        </p:nvSpPr>
        <p:spPr>
          <a:xfrm>
            <a:off x="17653000" y="8636000"/>
            <a:ext cx="31496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E6985B3-5920-A157-8CCD-321DDD48D410}"/>
              </a:ext>
            </a:extLst>
          </p:cNvPr>
          <p:cNvSpPr/>
          <p:nvPr/>
        </p:nvSpPr>
        <p:spPr>
          <a:xfrm>
            <a:off x="17653000" y="8636000"/>
            <a:ext cx="76200" cy="952500"/>
          </a:xfrm>
          <a:prstGeom prst="rect">
            <a:avLst/>
          </a:prstGeom>
          <a:solidFill>
            <a:srgbClr val="102A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CF40534B-6128-A46B-7B4D-1B2E28F287E0}"/>
              </a:ext>
            </a:extLst>
          </p:cNvPr>
          <p:cNvSpPr/>
          <p:nvPr/>
        </p:nvSpPr>
        <p:spPr>
          <a:xfrm>
            <a:off x="17805400" y="8763000"/>
            <a:ext cx="2844800" cy="317500"/>
          </a:xfrm>
          <a:prstGeom prst="roundRect">
            <a:avLst/>
          </a:prstGeom>
          <a:solidFill>
            <a:srgbClr val="EFF6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0F172A"/>
                </a:solidFill>
                <a:latin typeface="Aptos" panose="020B0004020202020204" pitchFamily="34" charset="0"/>
              </a:rPr>
              <a:t>GV-03  Reports and audit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94D22F0-F176-D5C2-C744-28F736F05D5F}"/>
              </a:ext>
            </a:extLst>
          </p:cNvPr>
          <p:cNvSpPr txBox="1"/>
          <p:nvPr/>
        </p:nvSpPr>
        <p:spPr>
          <a:xfrm>
            <a:off x="17805400" y="9169400"/>
            <a:ext cx="2844800" cy="448841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Exports, audit log, operational reports and traceability.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B709AB3E-BD63-BDF7-0B72-B48A9FD1BF78}"/>
              </a:ext>
            </a:extLst>
          </p:cNvPr>
          <p:cNvSpPr/>
          <p:nvPr/>
        </p:nvSpPr>
        <p:spPr>
          <a:xfrm>
            <a:off x="11582400" y="9842500"/>
            <a:ext cx="9220200" cy="736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B857A51-E2A9-96F2-8EEE-33F85CA70367}"/>
              </a:ext>
            </a:extLst>
          </p:cNvPr>
          <p:cNvSpPr/>
          <p:nvPr/>
        </p:nvSpPr>
        <p:spPr>
          <a:xfrm>
            <a:off x="11582400" y="9842500"/>
            <a:ext cx="76200" cy="736600"/>
          </a:xfrm>
          <a:prstGeom prst="rect">
            <a:avLst/>
          </a:prstGeom>
          <a:solidFill>
            <a:srgbClr val="B91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D5490340-6CF1-1B3F-6248-A84BF1F4C720}"/>
              </a:ext>
            </a:extLst>
          </p:cNvPr>
          <p:cNvSpPr/>
          <p:nvPr/>
        </p:nvSpPr>
        <p:spPr>
          <a:xfrm>
            <a:off x="11734800" y="9969500"/>
            <a:ext cx="8915400" cy="317500"/>
          </a:xfrm>
          <a:prstGeom prst="roundRect">
            <a:avLst/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63500" rtlCol="0" anchor="ctr"/>
          <a:lstStyle/>
          <a:p>
            <a:r>
              <a:rPr lang="en-IN" sz="1200" b="1">
                <a:solidFill>
                  <a:srgbClr val="B91C1C"/>
                </a:solidFill>
                <a:latin typeface="Aptos" panose="020B0004020202020204" pitchFamily="34" charset="0"/>
              </a:rPr>
              <a:t>SECURITY CONTROLS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533330E-04DE-8590-9BC5-F8C187CC2F5A}"/>
              </a:ext>
            </a:extLst>
          </p:cNvPr>
          <p:cNvSpPr txBox="1"/>
          <p:nvPr/>
        </p:nvSpPr>
        <p:spPr>
          <a:xfrm>
            <a:off x="11734800" y="10375900"/>
            <a:ext cx="89154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1000">
                <a:solidFill>
                  <a:srgbClr val="475569"/>
                </a:solidFill>
                <a:latin typeface="Aptos" panose="020B0004020202020204" pitchFamily="34" charset="0"/>
              </a:rPr>
              <a:t>Rate limits | Argon2 passwords | encrypted secrets | server-side authorisation | idempotent checkout | signed payment verification</a:t>
            </a: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2D8BD496-0F5D-460E-EB61-A34E1B39F67A}"/>
              </a:ext>
            </a:extLst>
          </p:cNvPr>
          <p:cNvSpPr/>
          <p:nvPr/>
        </p:nvSpPr>
        <p:spPr>
          <a:xfrm>
            <a:off x="533400" y="11112500"/>
            <a:ext cx="20269200" cy="3048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A33DA7D-0630-242C-F21D-305801AA7932}"/>
              </a:ext>
            </a:extLst>
          </p:cNvPr>
          <p:cNvSpPr txBox="1"/>
          <p:nvPr/>
        </p:nvSpPr>
        <p:spPr>
          <a:xfrm>
            <a:off x="787400" y="11328400"/>
            <a:ext cx="2540000" cy="325730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1200" b="1">
                <a:solidFill>
                  <a:srgbClr val="102A43"/>
                </a:solidFill>
                <a:latin typeface="Aptos" panose="020B0004020202020204" pitchFamily="34" charset="0"/>
              </a:rPr>
              <a:t>NEXT-SCREEN RULES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21F16757-5168-1C04-2808-B7E29B9A3D26}"/>
              </a:ext>
            </a:extLst>
          </p:cNvPr>
          <p:cNvSpPr txBox="1"/>
          <p:nvPr/>
        </p:nvSpPr>
        <p:spPr>
          <a:xfrm>
            <a:off x="787400" y="11722100"/>
            <a:ext cx="96520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Catalogue lists open product detail. Product detail adds to cart or opens the repeat-purchase builder.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636E965-106F-96E2-4D30-706C7035654F}"/>
              </a:ext>
            </a:extLst>
          </p:cNvPr>
          <p:cNvSpPr txBox="1"/>
          <p:nvPr/>
        </p:nvSpPr>
        <p:spPr>
          <a:xfrm>
            <a:off x="787400" y="12026900"/>
            <a:ext cx="100330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Checkout creates exactly one order using an idempotency key; payment completion is verified by the backend/webhook.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3B722EE-7E41-FDE6-D0DC-05F5A2E1356C}"/>
              </a:ext>
            </a:extLst>
          </p:cNvPr>
          <p:cNvSpPr txBox="1"/>
          <p:nvPr/>
        </p:nvSpPr>
        <p:spPr>
          <a:xfrm>
            <a:off x="787400" y="12331700"/>
            <a:ext cx="100330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Admin lists open detail screens. Operational actions update state, create audit history and may enqueue worker jobs.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AC60C89-7E1C-4BC1-8CCF-3FF584E44354}"/>
              </a:ext>
            </a:extLst>
          </p:cNvPr>
          <p:cNvSpPr txBox="1"/>
          <p:nvPr/>
        </p:nvSpPr>
        <p:spPr>
          <a:xfrm>
            <a:off x="787400" y="12636500"/>
            <a:ext cx="100330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- Every protected route rechecks session and effective permissions. Alerts route users to the related operational screen.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98439B08-998D-C211-DD94-559BA04F8A02}"/>
              </a:ext>
            </a:extLst>
          </p:cNvPr>
          <p:cNvSpPr txBox="1"/>
          <p:nvPr/>
        </p:nvSpPr>
        <p:spPr>
          <a:xfrm>
            <a:off x="11303000" y="11328400"/>
            <a:ext cx="3048000" cy="325730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IN" sz="1200" b="1">
                <a:solidFill>
                  <a:srgbClr val="102A43"/>
                </a:solidFill>
                <a:latin typeface="Aptos" panose="020B0004020202020204" pitchFamily="34" charset="0"/>
              </a:rPr>
              <a:t>MASTER ROUTE FAMILIES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444222BE-3698-31AD-3024-0D055F9897A5}"/>
              </a:ext>
            </a:extLst>
          </p:cNvPr>
          <p:cNvSpPr txBox="1"/>
          <p:nvPr/>
        </p:nvSpPr>
        <p:spPr>
          <a:xfrm>
            <a:off x="11303000" y="11722100"/>
            <a:ext cx="88900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/  /products  /search  /category/:slug  /product/:slug  /cart  /checkout  /account/*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EDB6365-62CE-B5E5-852D-CD6CE3851B2E}"/>
              </a:ext>
            </a:extLst>
          </p:cNvPr>
          <p:cNvSpPr txBox="1"/>
          <p:nvPr/>
        </p:nvSpPr>
        <p:spPr>
          <a:xfrm>
            <a:off x="11303000" y="12026900"/>
            <a:ext cx="88900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/login  /activate  /forgot-password  /reset-password  /order-confirmation/:id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560F144-A6C0-4661-924B-849889ADB1F2}"/>
              </a:ext>
            </a:extLst>
          </p:cNvPr>
          <p:cNvSpPr txBox="1"/>
          <p:nvPr/>
        </p:nvSpPr>
        <p:spPr>
          <a:xfrm>
            <a:off x="11303000" y="12331700"/>
            <a:ext cx="88900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Admin: /  /categories  /products  /inventory  /orders  /payments  /recurring  /customers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67E5A8-7AF7-FCCF-AE34-48CE3A0FF450}"/>
              </a:ext>
            </a:extLst>
          </p:cNvPr>
          <p:cNvSpPr txBox="1"/>
          <p:nvPr/>
        </p:nvSpPr>
        <p:spPr>
          <a:xfrm>
            <a:off x="11303000" y="12636500"/>
            <a:ext cx="8890000" cy="294953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ptos" panose="020B0004020202020204" pitchFamily="34" charset="0"/>
              </a:rPr>
              <a:t>/coupons  /reports  /audit  /integrations  /staff  /settings</a:t>
            </a:r>
            <a:endParaRPr lang="en-IN" sz="10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E318AD1-D7EC-DD93-8C0E-1FB44CDDB18B}"/>
              </a:ext>
            </a:extLst>
          </p:cNvPr>
          <p:cNvSpPr txBox="1"/>
          <p:nvPr/>
        </p:nvSpPr>
        <p:spPr>
          <a:xfrm>
            <a:off x="533400" y="14478000"/>
            <a:ext cx="19558000" cy="279564"/>
          </a:xfrm>
          <a:prstGeom prst="rect">
            <a:avLst/>
          </a:prstGeom>
          <a:noFill/>
        </p:spPr>
        <p:txBody>
          <a:bodyPr vert="horz" lIns="127000" tIns="76200" rIns="127000" bIns="63500" rtlCol="0" anchor="ctr">
            <a:spAutoFit/>
          </a:bodyPr>
          <a:lstStyle/>
          <a:p>
            <a:r>
              <a:rPr lang="en-US" sz="900">
                <a:solidFill>
                  <a:srgbClr val="475569"/>
                </a:solidFill>
                <a:latin typeface="Aptos" panose="020B0004020202020204" pitchFamily="34" charset="0"/>
              </a:rPr>
              <a:t>Source: UBOSS Sourcing codebase - customer storefront, admin portal, Fastify API, Prisma/MariaDB and worker flow.</a:t>
            </a:r>
            <a:endParaRPr lang="en-IN" sz="9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Microsoft Office PowerPoint</Application>
  <PresentationFormat>Custom</PresentationFormat>
  <Paragraphs>99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2026-09-05T06:30:20Z</dcterms:created>
  <dcterms:modified xsi:type="dcterms:W3CDTF">2026-09-05T06:30:20Z</dcterms:modified>
</cp:coreProperties>
</file>